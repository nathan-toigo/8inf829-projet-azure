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62" r:id="rId3"/>
    <p:sldId id="263" r:id="rId4"/>
    <p:sldId id="264" r:id="rId5"/>
    <p:sldId id="273" r:id="rId6"/>
    <p:sldId id="265" r:id="rId7"/>
    <p:sldId id="266" r:id="rId8"/>
    <p:sldId id="271" r:id="rId9"/>
    <p:sldId id="269" r:id="rId10"/>
    <p:sldId id="270" r:id="rId11"/>
    <p:sldId id="272" r:id="rId12"/>
    <p:sldId id="267" r:id="rId13"/>
    <p:sldId id="261" r:id="rId14"/>
    <p:sldId id="268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72963-FCE0-BCC2-CEC0-C1589D4E71A2}" v="2" dt="2026-05-25T16:33:53.738"/>
    <p1510:client id="{3FD915F6-0530-24E1-2BAB-3D9565766F4E}" v="2" dt="2026-05-24T22:41:36.200"/>
    <p1510:client id="{5A1ACF02-8A8C-044A-86C6-06F44F8581A8}" v="535" dt="2026-05-25T02:32:14.409"/>
    <p1510:client id="{8AA56C4F-633F-F24B-70F5-EF6FC256859A}" v="656" dt="2026-05-25T02:05:24.148"/>
    <p1510:client id="{BFDE0C17-ED69-2466-9350-792F6DCF9F57}" v="422" dt="2026-05-24T23:06:22.276"/>
    <p1510:client id="{DFCEE102-0EF2-FA2B-B0FC-1C9211F0CD3B}" v="27" dt="2026-05-24T14:48:11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AE6D8-30EE-424D-836A-262140208C2C}" type="datetimeFigureOut">
              <a:t>25/05/2026</a:t>
            </a:fld>
            <a:endParaRPr lang="fr-CA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9684C-C617-4BD9-BCE6-2EC93F30531B}" type="slidenum"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1523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9684C-C617-4BD9-BCE6-2EC93F30531B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4526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9684C-C617-4BD9-BCE6-2EC93F30531B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8743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Des systèmes RAG plus explicables</a:t>
            </a:r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Idée :</a:t>
            </a:r>
            <a:r>
              <a:rPr lang="fr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rendre le fonctionnement du RAG plus transparent, en montrant </a:t>
            </a:r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quels passages ont été récupérés</a:t>
            </a:r>
            <a:r>
              <a:rPr lang="fr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</a:t>
            </a:r>
            <a:r>
              <a:rPr lang="fr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ils ont été choisis, et </a:t>
            </a:r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fr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ils soutiennent la réponse.</a:t>
            </a:r>
          </a:p>
          <a:p>
            <a:endParaRPr lang="fr-FR"/>
          </a:p>
          <a:p>
            <a:endParaRPr lang="fr-FR"/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Une meilleure intégration dans les workflows cliniques</a:t>
            </a:r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Idée :</a:t>
            </a:r>
            <a:r>
              <a:rPr lang="fr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intégrer le RAG dans les outils et processus déjà utilisés par les professionnels de santé, plutôt que comme un outil isolé.</a:t>
            </a:r>
          </a:p>
          <a:p>
            <a:endParaRPr lang="fr-FR"/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Des approches multimodales</a:t>
            </a:r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Idée :</a:t>
            </a:r>
            <a:r>
              <a:rPr lang="fr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ne pas se limiter au texte, mais combiner plusieurs types de données.</a:t>
            </a:r>
          </a:p>
          <a:p>
            <a:endParaRPr lang="fr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Du </a:t>
            </a:r>
            <a:r>
              <a:rPr lang="fr-CA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continual</a:t>
            </a:r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A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suivre l’évolution des connaissances médicales</a:t>
            </a:r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Idée :</a:t>
            </a:r>
            <a:r>
              <a:rPr lang="fr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permettre au système de rester à jour lorsque de nouvelles connaissances, recommandations ou données apparaissent.</a:t>
            </a:r>
          </a:p>
          <a:p>
            <a:endParaRPr lang="fr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Des systèmes avec </a:t>
            </a:r>
            <a:r>
              <a:rPr lang="fr-CA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</a:t>
            </a:r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-in-the-</a:t>
            </a:r>
            <a:r>
              <a:rPr lang="fr-CA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</a:t>
            </a:r>
            <a:endParaRPr lang="fr-CA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Idée :</a:t>
            </a:r>
            <a:r>
              <a:rPr lang="fr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inclure un humain dans la boucle, par exemple pour superviser les cas sensibles.</a:t>
            </a:r>
          </a:p>
          <a:p>
            <a:endParaRPr lang="fr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9684C-C617-4BD9-BCE6-2EC93F30531B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8901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  <a:p>
            <a:endParaRPr lang="fr-FR"/>
          </a:p>
          <a:p>
            <a:endParaRPr lang="fr-FR"/>
          </a:p>
          <a:p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flowchart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TD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SOUS-DIAGRAMME RAG — Indexation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RAG["🗂️ Pipeline RAG — Indexation"]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 TB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R1["📄 Document médical\n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 pages PDF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R2["🔤 Sélectionner 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\n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ex: text-embedding-ada-002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R3["✂️ Choisir méthode de découpage\n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 / paragraphe / LLM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R4["📦 Produire les 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Chunks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R5["🗄️ Injecter dans la BD Vectorielle"]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R1 --&gt; R2 --&gt; R3 --&gt; R4 --&gt; R5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SOUS-DIAGRAMME AGENT — Avec RAG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AGENT["🤖 Pipeline Agent — Avec RAG"]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 TB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A1["❓ Lancer une question clinique"]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A2["🔍 Récupérer les 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chunks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pertinents\n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Similarité cosinus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A3["🏆 Conserver le Top 2\n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chunks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plus similaires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A4["📋 Injecter les 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chunks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ndans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contexte du LLM"]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A5["🧠 Lancer le LLM"]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A6["💬 Récupérer la réponse RAG"]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A1 --&gt; A2 --&gt; A3 --&gt; A4 --&gt; A5 --&gt; A6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SOUS-DIAGRAMME NON-RAG — Baseline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NORAG["📂 Pipeline Baseline — Sans RAG"]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 TB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N1["❓ Lancer la même question clinique"]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N2["📁 Injecter tout le dossier patient\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ndans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contexte 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 pages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N3["🧠 Lancer le LLM"]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N4["💬 Récupérer la réponse Baseline"]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N1 --&gt; N2 --&gt; N3 --&gt; N4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COMPARAISON — LLM-as-a-Judge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JUDGE["⚖️ Évaluation — LLM-as-a-Judge"]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 TB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J1["📊 Comparer les deux réponses"]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J2["🎯 Évaluer sur les métriques"]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J3["🏅 Produire une note globale\n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 0 → 1</a:t>
            </a: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J4["📈 Conclusion : RAG vs Baseline"]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J1 --&gt; J2 --&gt; J3 --&gt; J4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CONNEXIONS ENTRE SOUS-DIAGRAMMES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R5 --&gt;|"BD Vectorielle prête"| A2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A6 --&gt;|"Réponse RAG"| J1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N4 --&gt;|"Réponse Baseline"| J1</a:t>
            </a:r>
          </a:p>
          <a:p>
            <a:b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CA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STYLES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%% ─────────────────────────────────────────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 RAG 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:#e8f4f8,stroke:#2196F3,stroke-width:2px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 AGENT 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:#e8f8e8,stroke:#4CAF50,stroke-width:2px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 NORAG 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:#fff3e0,stroke:#FF9800,stroke-width:2px</a:t>
            </a:r>
          </a:p>
          <a:p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 JUDGE </a:t>
            </a:r>
            <a:r>
              <a:rPr lang="fr-CA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:#f3e5f5,stroke:#9C27B0,stroke-width:2px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9684C-C617-4BD9-BCE6-2EC93F30531B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0679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66631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1739122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13812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692560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08495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994141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597830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73935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15956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727094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636249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18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i609022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ECDF2D-3639-4EE9-A4F1-0D9F3235A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A"/>
              <a:t>Dev #1 – RAG</a:t>
            </a:r>
            <a:br>
              <a:rPr lang="fr-CA"/>
            </a:br>
            <a:r>
              <a:rPr lang="fr-CA"/>
              <a:t>Les Trois </a:t>
            </a:r>
            <a:r>
              <a:rPr lang="fr-CA" err="1"/>
              <a:t>Tokens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5294D7-A045-4C14-9634-F249C2A7B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CA"/>
              <a:t>8INF829 – Séminaire de maîtrise en informatique I</a:t>
            </a:r>
          </a:p>
          <a:p>
            <a:r>
              <a:rPr lang="fr-CA"/>
              <a:t>NTOIGO14090300 - Nathan </a:t>
            </a:r>
            <a:r>
              <a:rPr lang="fr-CA" err="1"/>
              <a:t>Toïgo</a:t>
            </a:r>
            <a:endParaRPr lang="fr-CA"/>
          </a:p>
          <a:p>
            <a:r>
              <a:rPr lang="fr-CA"/>
              <a:t>OUEA31510300 - Amal </a:t>
            </a:r>
            <a:r>
              <a:rPr lang="fr-CA" err="1"/>
              <a:t>Ouedraogo</a:t>
            </a:r>
            <a:endParaRPr lang="fr-CA"/>
          </a:p>
          <a:p>
            <a:r>
              <a:rPr lang="fr-CA"/>
              <a:t>MERD03118309 – Dominic </a:t>
            </a:r>
            <a:r>
              <a:rPr lang="fr-CA" err="1"/>
              <a:t>Mercier-Simard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A9E4F0-64C6-517E-FF2F-1518ADA0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fr-CA"/>
          </a:p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408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0FA41-4E92-FFBE-F04A-ABF6C294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Agenda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BE4BEA-E0F8-8797-F806-A94218879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56486"/>
            <a:ext cx="9601200" cy="35814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83540" indent="-383540"/>
            <a:r>
              <a:rPr lang="fr-FR"/>
              <a:t>Contexte et problématique</a:t>
            </a:r>
          </a:p>
          <a:p>
            <a:pPr marL="383540" indent="-383540"/>
            <a:r>
              <a:rPr lang="fr-FR"/>
              <a:t>Objectifs</a:t>
            </a:r>
          </a:p>
          <a:p>
            <a:pPr marL="383540" indent="-383540"/>
            <a:r>
              <a:rPr lang="fr-FR"/>
              <a:t>Article de référence</a:t>
            </a:r>
          </a:p>
          <a:p>
            <a:pPr marL="383540" indent="-383540"/>
            <a:r>
              <a:rPr lang="fr-FR"/>
              <a:t>Protocol expérimental</a:t>
            </a:r>
          </a:p>
          <a:p>
            <a:pPr marL="383540" indent="-383540"/>
            <a:r>
              <a:rPr lang="fr-FR"/>
              <a:t>Architecture RAG </a:t>
            </a:r>
          </a:p>
          <a:p>
            <a:pPr marL="383540" indent="-383540"/>
            <a:r>
              <a:rPr lang="fr-FR"/>
              <a:t>Résultat</a:t>
            </a:r>
          </a:p>
          <a:p>
            <a:pPr marL="383540" indent="-383540"/>
            <a:r>
              <a:rPr lang="fr-FR"/>
              <a:t>Analyse comparée </a:t>
            </a:r>
          </a:p>
          <a:p>
            <a:pPr marL="383540" indent="-383540"/>
            <a:r>
              <a:rPr lang="fr-FR"/>
              <a:t>Interprétation</a:t>
            </a:r>
          </a:p>
          <a:p>
            <a:pPr marL="383540" indent="-383540"/>
            <a:r>
              <a:rPr lang="fr-FR"/>
              <a:t>Conclusion </a:t>
            </a:r>
            <a:r>
              <a:rPr lang="fr-FR" sz="2100"/>
              <a:t>et</a:t>
            </a:r>
            <a:r>
              <a:rPr lang="fr-FR"/>
              <a:t> P</a:t>
            </a:r>
            <a:r>
              <a:rPr lang="fr-FR" sz="2100"/>
              <a:t>erspective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3F7C32-154B-9C47-9D6E-34960EE7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600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7FDA23-1322-8D7D-DB4B-3E3138D45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Contexte et problématique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1E7FBD-DC97-570B-E792-2FC4C302A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383540" indent="-383540"/>
            <a:r>
              <a:rPr lang="fr-CA" b="1"/>
              <a:t>Contexte</a:t>
            </a:r>
            <a:r>
              <a:rPr lang="fr-CA"/>
              <a:t> :</a:t>
            </a:r>
            <a:endParaRPr lang="fr-FR"/>
          </a:p>
          <a:p>
            <a:pPr lvl="1" indent="-383540"/>
            <a:r>
              <a:rPr lang="fr-CA" i="0"/>
              <a:t>Système de soutien à la décision médicale ancré sur l’historique réel d’un patient</a:t>
            </a:r>
          </a:p>
          <a:p>
            <a:pPr lvl="1" indent="-383540"/>
            <a:r>
              <a:rPr lang="fr-CA" i="0"/>
              <a:t>Données : 16 pages de notes médicales anonymisées</a:t>
            </a:r>
          </a:p>
          <a:p>
            <a:pPr lvl="1" indent="-383540"/>
            <a:r>
              <a:rPr lang="fr-CA" i="0"/>
              <a:t>Objectif global : aider un clinicien ou un agent à répondre efficacement à des questions sur l’historique du patient et soutenir des décisions médicales.</a:t>
            </a:r>
          </a:p>
          <a:p>
            <a:pPr marL="383540" indent="-383540"/>
            <a:r>
              <a:rPr lang="fr-CA" b="1"/>
              <a:t>Problématique</a:t>
            </a:r>
            <a:r>
              <a:rPr lang="fr-CA"/>
              <a:t> :</a:t>
            </a:r>
          </a:p>
          <a:p>
            <a:pPr lvl="1" indent="-383540"/>
            <a:r>
              <a:rPr lang="fr-CA" i="0"/>
              <a:t>Les historiques médicaux sont longs, redondants et contiennent beaucoup d’informations non pertinentes</a:t>
            </a:r>
          </a:p>
          <a:p>
            <a:pPr lvl="1" indent="-383540"/>
            <a:r>
              <a:rPr lang="fr-CA" i="0" dirty="0"/>
              <a:t>Injecter l’intégralité du document dans un LLM = gaspillage de </a:t>
            </a:r>
            <a:r>
              <a:rPr lang="fr-CA" i="0" dirty="0" err="1"/>
              <a:t>tokens</a:t>
            </a:r>
            <a:r>
              <a:rPr lang="fr-CA" i="0" dirty="0"/>
              <a:t> + risque de dilution de l’information</a:t>
            </a:r>
          </a:p>
          <a:p>
            <a:pPr lvl="1" indent="-383540"/>
            <a:r>
              <a:rPr lang="fr-CA" i="0"/>
              <a:t>Besoin d’un </a:t>
            </a:r>
            <a:r>
              <a:rPr lang="fr-CA" b="1" i="0"/>
              <a:t>mécanisme de triage</a:t>
            </a:r>
            <a:r>
              <a:rPr lang="fr-CA" i="0"/>
              <a:t> capable de sélectionner uniquement les passages pertinents</a:t>
            </a:r>
          </a:p>
          <a:p>
            <a:pPr marL="383540" indent="-383540"/>
            <a:r>
              <a:rPr lang="fr-CA" b="1"/>
              <a:t>Question d’expérimentation</a:t>
            </a:r>
            <a:r>
              <a:rPr lang="fr-CA"/>
              <a:t> :</a:t>
            </a:r>
          </a:p>
          <a:p>
            <a:pPr lvl="1" indent="-383540"/>
            <a:r>
              <a:rPr lang="fr-CA" i="0"/>
              <a:t>Dans quelle mesure un système RAG peut-il améliorer la pertinence et l’efficacité d’un agent en ne conservant que les extraits médicaux utiles pour répondre à des questions cliniques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F42217-3B91-1FBB-3983-AF8AE898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72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CC2F15-AC14-CE24-EA8C-D38953F1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C5977-93F6-E6E4-9F8B-0677074CB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A" b="1"/>
              <a:t>Objectifs principaux :</a:t>
            </a:r>
            <a:endParaRPr lang="fr-CA"/>
          </a:p>
          <a:p>
            <a:pPr lvl="1"/>
            <a:r>
              <a:rPr lang="fr-CA"/>
              <a:t>Concevoir un système RAG spécialisé dans le </a:t>
            </a:r>
            <a:r>
              <a:rPr lang="fr-CA" b="1"/>
              <a:t>triage</a:t>
            </a:r>
            <a:r>
              <a:rPr lang="fr-CA"/>
              <a:t> de l’historique médical</a:t>
            </a:r>
          </a:p>
          <a:p>
            <a:pPr lvl="1"/>
            <a:r>
              <a:rPr lang="fr-CA"/>
              <a:t>Sélectionner uniquement les passages pertinents pour répondre à des questions cliniques</a:t>
            </a:r>
          </a:p>
          <a:p>
            <a:pPr lvl="1"/>
            <a:r>
              <a:rPr lang="fr-CA"/>
              <a:t>Optimiser l’utilisation des </a:t>
            </a:r>
            <a:r>
              <a:rPr lang="fr-CA" err="1"/>
              <a:t>tokens</a:t>
            </a:r>
            <a:r>
              <a:rPr lang="fr-CA"/>
              <a:t> (réduire le contexte inutile)</a:t>
            </a:r>
          </a:p>
          <a:p>
            <a:pPr lvl="1"/>
            <a:r>
              <a:rPr lang="fr-CA"/>
              <a:t>Évaluer la performance du RAG sur 4 questions de référence cliniques</a:t>
            </a:r>
          </a:p>
          <a:p>
            <a:pPr lvl="1"/>
            <a:r>
              <a:rPr lang="fr-CA"/>
              <a:t>Comparer différentes configurations de </a:t>
            </a:r>
            <a:r>
              <a:rPr lang="fr-CA" err="1"/>
              <a:t>retrieval</a:t>
            </a:r>
            <a:r>
              <a:rPr lang="fr-CA"/>
              <a:t> et de </a:t>
            </a:r>
            <a:r>
              <a:rPr lang="fr-CA" err="1"/>
              <a:t>chunking</a:t>
            </a:r>
            <a:endParaRPr lang="fr-CA"/>
          </a:p>
          <a:p>
            <a:r>
              <a:rPr lang="fr-CA" b="1"/>
              <a:t>Questions de référence utilisées :</a:t>
            </a:r>
            <a:endParaRPr lang="fr-CA"/>
          </a:p>
          <a:p>
            <a:pPr lvl="1"/>
            <a:r>
              <a:rPr lang="fr-CA" err="1"/>
              <a:t>What</a:t>
            </a:r>
            <a:r>
              <a:rPr lang="fr-CA"/>
              <a:t> </a:t>
            </a:r>
            <a:r>
              <a:rPr lang="fr-CA" err="1"/>
              <a:t>medications</a:t>
            </a:r>
            <a:r>
              <a:rPr lang="fr-CA"/>
              <a:t> </a:t>
            </a:r>
            <a:r>
              <a:rPr lang="fr-CA" err="1"/>
              <a:t>is</a:t>
            </a:r>
            <a:r>
              <a:rPr lang="fr-CA"/>
              <a:t> the patient </a:t>
            </a:r>
            <a:r>
              <a:rPr lang="fr-CA" err="1"/>
              <a:t>taking</a:t>
            </a:r>
            <a:r>
              <a:rPr lang="fr-CA"/>
              <a:t>?</a:t>
            </a:r>
          </a:p>
          <a:p>
            <a:pPr lvl="1"/>
            <a:r>
              <a:rPr lang="fr-CA" err="1"/>
              <a:t>What</a:t>
            </a:r>
            <a:r>
              <a:rPr lang="fr-CA"/>
              <a:t> </a:t>
            </a:r>
            <a:r>
              <a:rPr lang="fr-CA" err="1"/>
              <a:t>was</a:t>
            </a:r>
            <a:r>
              <a:rPr lang="fr-CA"/>
              <a:t> the </a:t>
            </a:r>
            <a:r>
              <a:rPr lang="fr-CA" err="1"/>
              <a:t>interpretation</a:t>
            </a:r>
            <a:r>
              <a:rPr lang="fr-CA"/>
              <a:t> of the </a:t>
            </a:r>
            <a:r>
              <a:rPr lang="fr-CA" err="1"/>
              <a:t>left</a:t>
            </a:r>
            <a:r>
              <a:rPr lang="fr-CA"/>
              <a:t> cervical </a:t>
            </a:r>
            <a:r>
              <a:rPr lang="fr-CA" err="1"/>
              <a:t>lymph</a:t>
            </a:r>
            <a:r>
              <a:rPr lang="fr-CA"/>
              <a:t> </a:t>
            </a:r>
            <a:r>
              <a:rPr lang="fr-CA" err="1"/>
              <a:t>node</a:t>
            </a:r>
            <a:r>
              <a:rPr lang="fr-CA"/>
              <a:t> fine-</a:t>
            </a:r>
            <a:r>
              <a:rPr lang="fr-CA" err="1"/>
              <a:t>needle</a:t>
            </a:r>
            <a:r>
              <a:rPr lang="fr-CA"/>
              <a:t> aspiration </a:t>
            </a:r>
            <a:r>
              <a:rPr lang="fr-CA" err="1"/>
              <a:t>pathology</a:t>
            </a:r>
            <a:r>
              <a:rPr lang="fr-CA"/>
              <a:t> and flow </a:t>
            </a:r>
            <a:r>
              <a:rPr lang="fr-CA" err="1"/>
              <a:t>cytometry</a:t>
            </a:r>
            <a:r>
              <a:rPr lang="fr-CA"/>
              <a:t> </a:t>
            </a:r>
            <a:r>
              <a:rPr lang="fr-CA" err="1"/>
              <a:t>findings</a:t>
            </a:r>
            <a:r>
              <a:rPr lang="fr-CA"/>
              <a:t> </a:t>
            </a:r>
            <a:r>
              <a:rPr lang="fr-CA" err="1"/>
              <a:t>from</a:t>
            </a:r>
            <a:r>
              <a:rPr lang="fr-CA"/>
              <a:t> 2021?</a:t>
            </a:r>
          </a:p>
          <a:p>
            <a:pPr lvl="1"/>
            <a:r>
              <a:rPr lang="fr-CA" err="1"/>
              <a:t>What</a:t>
            </a:r>
            <a:r>
              <a:rPr lang="fr-CA"/>
              <a:t> </a:t>
            </a:r>
            <a:r>
              <a:rPr lang="fr-CA" err="1"/>
              <a:t>pulmonary</a:t>
            </a:r>
            <a:r>
              <a:rPr lang="fr-CA"/>
              <a:t> nodule </a:t>
            </a:r>
            <a:r>
              <a:rPr lang="fr-CA" err="1"/>
              <a:t>findings</a:t>
            </a:r>
            <a:r>
              <a:rPr lang="fr-CA"/>
              <a:t> </a:t>
            </a:r>
            <a:r>
              <a:rPr lang="fr-CA" err="1"/>
              <a:t>were</a:t>
            </a:r>
            <a:r>
              <a:rPr lang="fr-CA"/>
              <a:t> </a:t>
            </a:r>
            <a:r>
              <a:rPr lang="fr-CA" err="1"/>
              <a:t>reported</a:t>
            </a:r>
            <a:r>
              <a:rPr lang="fr-CA"/>
              <a:t> on the 2022 CT </a:t>
            </a:r>
            <a:r>
              <a:rPr lang="fr-CA" err="1"/>
              <a:t>chest</a:t>
            </a:r>
            <a:r>
              <a:rPr lang="fr-CA"/>
              <a:t> exam and </a:t>
            </a:r>
            <a:r>
              <a:rPr lang="fr-CA" err="1"/>
              <a:t>what</a:t>
            </a:r>
            <a:r>
              <a:rPr lang="fr-CA"/>
              <a:t> follow-up surveillance </a:t>
            </a:r>
            <a:r>
              <a:rPr lang="fr-CA" err="1"/>
              <a:t>was</a:t>
            </a:r>
            <a:r>
              <a:rPr lang="fr-CA"/>
              <a:t> </a:t>
            </a:r>
            <a:r>
              <a:rPr lang="fr-CA" err="1"/>
              <a:t>recommended</a:t>
            </a:r>
            <a:r>
              <a:rPr lang="fr-CA"/>
              <a:t>?</a:t>
            </a:r>
          </a:p>
          <a:p>
            <a:pPr lvl="1"/>
            <a:r>
              <a:rPr lang="fr-CA"/>
              <a:t>Quelle surveillance ou suivi a été recommandé pour les nodules pulmonaires ?</a:t>
            </a:r>
          </a:p>
          <a:p>
            <a:pPr marL="0" indent="0">
              <a:buNone/>
            </a:pP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07A4D2-048E-5374-069D-2BBDA11A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8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771A6B-89DD-B865-0821-5E1F93BD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fr-FR"/>
              <a:t>La source de données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D82BDF-DD4D-B094-F4BE-1342632A2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fr-CA"/>
              <a:t>Dossier médical synthétique longitudinal (2021–2025) en format PDF non structuré</a:t>
            </a:r>
          </a:p>
          <a:p>
            <a:r>
              <a:rPr lang="fr-CA"/>
              <a:t>Données médicales distribuées sur plusieurs pages et épisodes de soins</a:t>
            </a:r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792AA10-F2A7-CE63-97A9-2A9528CC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222" y="645106"/>
            <a:ext cx="4237554" cy="5247747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80AD40-252C-97A8-AF09-76503F33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48EC9D-5697-4E5B-8ED7-1432B59ABEA1}" type="slidenum">
              <a:rPr lang="fr-CA" smtClean="0"/>
              <a:pPr>
                <a:spcAft>
                  <a:spcPts val="600"/>
                </a:spcAft>
              </a:pPr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6110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85B45-FF1B-BE45-F209-768799E3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Article de référence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9CEE25-CF18-089B-D46A-38EE95BDC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CA"/>
              <a:t>Neha, F., </a:t>
            </a:r>
            <a:r>
              <a:rPr lang="fr-CA" err="1"/>
              <a:t>Bhati</a:t>
            </a:r>
            <a:r>
              <a:rPr lang="fr-CA"/>
              <a:t>, D., &amp; Shukla, D. K. (2025). </a:t>
            </a:r>
            <a:r>
              <a:rPr lang="fr-CA" i="1" err="1"/>
              <a:t>Retrieval-augmented</a:t>
            </a:r>
            <a:r>
              <a:rPr lang="fr-CA" i="1"/>
              <a:t> </a:t>
            </a:r>
            <a:r>
              <a:rPr lang="fr-CA" i="1" err="1"/>
              <a:t>generation</a:t>
            </a:r>
            <a:r>
              <a:rPr lang="fr-CA" i="1"/>
              <a:t> (RAG) in </a:t>
            </a:r>
            <a:r>
              <a:rPr lang="fr-CA" i="1" err="1"/>
              <a:t>healthcare</a:t>
            </a:r>
            <a:r>
              <a:rPr lang="fr-CA" i="1"/>
              <a:t>: A </a:t>
            </a:r>
            <a:r>
              <a:rPr lang="fr-CA" i="1" err="1"/>
              <a:t>comprehensive</a:t>
            </a:r>
            <a:r>
              <a:rPr lang="fr-CA" i="1"/>
              <a:t> </a:t>
            </a:r>
            <a:r>
              <a:rPr lang="fr-CA" i="1" err="1"/>
              <a:t>review</a:t>
            </a:r>
            <a:r>
              <a:rPr lang="fr-CA"/>
              <a:t>. </a:t>
            </a:r>
            <a:r>
              <a:rPr lang="fr-CA" b="1"/>
              <a:t>AI, 6</a:t>
            </a:r>
            <a:r>
              <a:rPr lang="fr-CA"/>
              <a:t>(9), Article 226. </a:t>
            </a:r>
            <a:r>
              <a:rPr lang="fr-CA" u="sng">
                <a:hlinkClick r:id="rId3"/>
              </a:rPr>
              <a:t>https://doi.org/10.3390/ai6090226</a:t>
            </a:r>
            <a:endParaRPr lang="fr-CA" u="sng"/>
          </a:p>
          <a:p>
            <a:r>
              <a:rPr lang="fr-CA"/>
              <a:t>l’article justifie l’usage d’un RAG médical pour sélectionner les extraits cliniques pertinents, réduire les hallucinations et améliorer la qualité des réponses à partir d’un historique patient réel.</a:t>
            </a:r>
          </a:p>
          <a:p>
            <a:r>
              <a:rPr lang="fr-CA"/>
              <a:t>Le limites découvertes:</a:t>
            </a:r>
          </a:p>
          <a:p>
            <a:pPr lvl="1"/>
            <a:r>
              <a:rPr lang="fr-CA"/>
              <a:t>Les méthodes de </a:t>
            </a:r>
            <a:r>
              <a:rPr lang="fr-CA" b="1" err="1"/>
              <a:t>chunking</a:t>
            </a:r>
            <a:r>
              <a:rPr lang="fr-CA" b="1"/>
              <a:t> par page </a:t>
            </a:r>
            <a:r>
              <a:rPr lang="fr-CA"/>
              <a:t>perdent fréquemment du contexte longitudinal critique. </a:t>
            </a:r>
          </a:p>
          <a:p>
            <a:pPr lvl="1"/>
            <a:r>
              <a:rPr lang="fr-CA"/>
              <a:t>Certains modèles </a:t>
            </a:r>
            <a:r>
              <a:rPr lang="fr-CA" b="1"/>
              <a:t>ajoutaient des interprétations </a:t>
            </a:r>
            <a:r>
              <a:rPr lang="fr-CA"/>
              <a:t>ou informations absentes du dossier source. </a:t>
            </a:r>
          </a:p>
          <a:p>
            <a:pPr lvl="1"/>
            <a:r>
              <a:rPr lang="fr-CA"/>
              <a:t>Difficulté à agréger correctement des informations réparties sur </a:t>
            </a:r>
            <a:r>
              <a:rPr lang="fr-CA" b="1"/>
              <a:t>plusieurs années et documents</a:t>
            </a:r>
            <a:r>
              <a:rPr lang="fr-CA"/>
              <a:t>. </a:t>
            </a:r>
          </a:p>
          <a:p>
            <a:pPr lvl="1"/>
            <a:r>
              <a:rPr lang="fr-CA"/>
              <a:t>Le </a:t>
            </a:r>
            <a:r>
              <a:rPr lang="fr-CA" b="1"/>
              <a:t>full-</a:t>
            </a:r>
            <a:r>
              <a:rPr lang="fr-CA" b="1" err="1"/>
              <a:t>context</a:t>
            </a:r>
            <a:r>
              <a:rPr lang="fr-CA"/>
              <a:t> </a:t>
            </a:r>
            <a:r>
              <a:rPr lang="fr-CA" err="1"/>
              <a:t>retrieval</a:t>
            </a:r>
            <a:r>
              <a:rPr lang="fr-CA"/>
              <a:t> produisait systématiquement les réponses les plus </a:t>
            </a:r>
            <a:r>
              <a:rPr lang="fr-CA" b="1"/>
              <a:t>fidèles et complètes</a:t>
            </a:r>
            <a:r>
              <a:rPr lang="fr-CA"/>
              <a:t>.</a:t>
            </a:r>
          </a:p>
          <a:p>
            <a:r>
              <a:rPr lang="fr-CA"/>
              <a:t>Les auteurs recommandent d’aller plus loin avec :</a:t>
            </a:r>
          </a:p>
          <a:p>
            <a:pPr lvl="1"/>
            <a:r>
              <a:rPr lang="fr-CA"/>
              <a:t>des systèmes RAG </a:t>
            </a:r>
            <a:r>
              <a:rPr lang="fr-CA" b="1"/>
              <a:t>plus explicables</a:t>
            </a:r>
            <a:r>
              <a:rPr lang="fr-CA"/>
              <a:t>,</a:t>
            </a:r>
          </a:p>
          <a:p>
            <a:pPr lvl="1"/>
            <a:r>
              <a:rPr lang="fr-CA"/>
              <a:t>une meilleure </a:t>
            </a:r>
            <a:r>
              <a:rPr lang="fr-CA" b="1"/>
              <a:t>intégration dans les workflows cliniques</a:t>
            </a:r>
            <a:r>
              <a:rPr lang="fr-CA"/>
              <a:t>,</a:t>
            </a:r>
          </a:p>
          <a:p>
            <a:pPr lvl="1"/>
            <a:r>
              <a:rPr lang="fr-CA"/>
              <a:t>des approches </a:t>
            </a:r>
            <a:r>
              <a:rPr lang="fr-CA" b="1"/>
              <a:t>multimodales</a:t>
            </a:r>
            <a:r>
              <a:rPr lang="fr-CA"/>
              <a:t>,</a:t>
            </a:r>
          </a:p>
          <a:p>
            <a:pPr lvl="1"/>
            <a:r>
              <a:rPr lang="fr-CA"/>
              <a:t>du </a:t>
            </a:r>
            <a:r>
              <a:rPr lang="fr-CA" b="1" err="1"/>
              <a:t>continual</a:t>
            </a:r>
            <a:r>
              <a:rPr lang="fr-CA" b="1"/>
              <a:t> </a:t>
            </a:r>
            <a:r>
              <a:rPr lang="fr-CA" b="1" err="1"/>
              <a:t>learning</a:t>
            </a:r>
            <a:r>
              <a:rPr lang="fr-CA"/>
              <a:t> pour suivre l’évolution des connaissances médicales,</a:t>
            </a:r>
          </a:p>
          <a:p>
            <a:pPr lvl="1"/>
            <a:r>
              <a:rPr lang="fr-CA"/>
              <a:t>et des systèmes avec </a:t>
            </a:r>
            <a:r>
              <a:rPr lang="fr-CA" b="1" err="1"/>
              <a:t>human</a:t>
            </a:r>
            <a:r>
              <a:rPr lang="fr-CA" b="1"/>
              <a:t>-in-the-</a:t>
            </a:r>
            <a:r>
              <a:rPr lang="fr-CA" b="1" err="1"/>
              <a:t>loop</a:t>
            </a:r>
            <a:r>
              <a:rPr lang="fr-CA"/>
              <a:t> pour garder une validation humaine.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22EDB3-68D8-F488-174D-BEE8B2F8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738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204626-2220-4678-A939-FD94EA7B5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C8A84BB-DA24-9340-BE2D-BA47BC8E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958837" cy="1485900"/>
          </a:xfrm>
        </p:spPr>
        <p:txBody>
          <a:bodyPr>
            <a:normAutofit/>
          </a:bodyPr>
          <a:lstStyle/>
          <a:p>
            <a:r>
              <a:rPr lang="fr-FR"/>
              <a:t>Protocol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9809AD-4BC3-4F26-4FA5-9E2DA917A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2286000"/>
            <a:ext cx="5958837" cy="3581400"/>
          </a:xfrm>
        </p:spPr>
        <p:txBody>
          <a:bodyPr>
            <a:normAutofit/>
          </a:bodyPr>
          <a:lstStyle/>
          <a:p>
            <a:r>
              <a:rPr lang="fr-CA" sz="1100" b="1"/>
              <a:t>Corpus</a:t>
            </a:r>
            <a:r>
              <a:rPr lang="fr-CA" sz="1100"/>
              <a:t> : 16 pages de notes médicales anonymisées d’un patient</a:t>
            </a:r>
          </a:p>
          <a:p>
            <a:r>
              <a:rPr lang="fr-CA" sz="1100" b="1"/>
              <a:t>Questions de test</a:t>
            </a:r>
            <a:r>
              <a:rPr lang="fr-CA" sz="1100"/>
              <a:t> : les 4 questions de référence</a:t>
            </a:r>
          </a:p>
          <a:p>
            <a:r>
              <a:rPr lang="fr-CA" sz="1100" b="1"/>
              <a:t>Configurations testées</a:t>
            </a:r>
            <a:r>
              <a:rPr lang="fr-CA" sz="1100"/>
              <a:t> (exemples) :</a:t>
            </a:r>
          </a:p>
          <a:p>
            <a:pPr lvl="1"/>
            <a:r>
              <a:rPr lang="fr-CA" sz="1100" i="0"/>
              <a:t>Différentes tailles de </a:t>
            </a:r>
            <a:r>
              <a:rPr lang="fr-CA" sz="1100" i="0" err="1"/>
              <a:t>chunks</a:t>
            </a:r>
            <a:endParaRPr lang="fr-CA" sz="1100" i="0"/>
          </a:p>
          <a:p>
            <a:pPr lvl="1"/>
            <a:r>
              <a:rPr lang="fr-CA" sz="1100" i="0"/>
              <a:t>Différentes méthodes de </a:t>
            </a:r>
            <a:r>
              <a:rPr lang="fr-CA" sz="1100" i="0" err="1"/>
              <a:t>chunking</a:t>
            </a:r>
            <a:r>
              <a:rPr lang="fr-CA" sz="1100" i="0"/>
              <a:t> (sémantique vs fixe)</a:t>
            </a:r>
          </a:p>
          <a:p>
            <a:pPr lvl="1"/>
            <a:r>
              <a:rPr lang="fr-CA" sz="1100" i="0"/>
              <a:t>Avec et sans </a:t>
            </a:r>
            <a:r>
              <a:rPr lang="fr-CA" sz="1100" i="0" err="1"/>
              <a:t>reranking</a:t>
            </a:r>
            <a:endParaRPr lang="fr-CA" sz="1100" i="0"/>
          </a:p>
          <a:p>
            <a:pPr lvl="1"/>
            <a:r>
              <a:rPr lang="fr-CA" sz="1100" i="0"/>
              <a:t>Différents modèles d’</a:t>
            </a:r>
            <a:r>
              <a:rPr lang="fr-CA" sz="1100" i="0" err="1"/>
              <a:t>embedding</a:t>
            </a:r>
            <a:endParaRPr lang="fr-CA" sz="1100" i="0"/>
          </a:p>
          <a:p>
            <a:pPr lvl="1"/>
            <a:r>
              <a:rPr lang="fr-CA" sz="1100" i="0"/>
              <a:t>Top-k </a:t>
            </a:r>
            <a:r>
              <a:rPr lang="fr-CA" sz="1100" i="0" err="1"/>
              <a:t>retrieval</a:t>
            </a:r>
            <a:r>
              <a:rPr lang="fr-CA" sz="1100" i="0"/>
              <a:t> variable</a:t>
            </a:r>
          </a:p>
          <a:p>
            <a:pPr lvl="1"/>
            <a:r>
              <a:rPr lang="fr-CA" sz="1100" i="0"/>
              <a:t>Variation dans la langue utilisée</a:t>
            </a:r>
          </a:p>
          <a:p>
            <a:r>
              <a:rPr lang="fr-CA" sz="1100" b="1"/>
              <a:t>Métriques utilisées</a:t>
            </a:r>
            <a:r>
              <a:rPr lang="fr-CA" sz="1100"/>
              <a:t> :</a:t>
            </a:r>
            <a:endParaRPr lang="fr-CA" sz="1100" i="0"/>
          </a:p>
          <a:p>
            <a:pPr lvl="1"/>
            <a:r>
              <a:rPr lang="fr-CA" sz="1100" i="0"/>
              <a:t>Distance</a:t>
            </a:r>
          </a:p>
          <a:p>
            <a:pPr lvl="1"/>
            <a:r>
              <a:rPr lang="fr-CA" sz="1100" i="0" err="1"/>
              <a:t>Accuracy</a:t>
            </a:r>
            <a:r>
              <a:rPr lang="fr-CA" sz="1100" i="0"/>
              <a:t> transverse (MEGA Judge – one to </a:t>
            </a:r>
            <a:r>
              <a:rPr lang="fr-CA" sz="1100" i="0" err="1"/>
              <a:t>rule</a:t>
            </a:r>
            <a:r>
              <a:rPr lang="fr-CA" sz="1100" i="0"/>
              <a:t> </a:t>
            </a:r>
            <a:r>
              <a:rPr lang="fr-CA" sz="1100" i="0" err="1"/>
              <a:t>them</a:t>
            </a:r>
            <a:r>
              <a:rPr lang="fr-CA" sz="1100" i="0"/>
              <a:t> all)</a:t>
            </a:r>
          </a:p>
          <a:p>
            <a:pPr lvl="1"/>
            <a:endParaRPr lang="fr-CA" sz="1100" i="0"/>
          </a:p>
          <a:p>
            <a:pPr lvl="1"/>
            <a:endParaRPr lang="fr-CA" sz="1100" i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97D8A6-1C5A-42B6-AE78-F3D0F9BDF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1CB119-4A48-BD75-9AC3-9BABE9B29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374" y="574"/>
            <a:ext cx="2533134" cy="6846314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28BC77-2A71-F826-8DC6-EE8A2FEC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42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828A-2CAA-013F-8964-479C2C2E8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FE6CF7-6B0A-AAD4-F70E-89E0F5A0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Architecture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4502D0-5AF9-0848-EA5A-46345146A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515" y="2640071"/>
            <a:ext cx="3049137" cy="25557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fr-FR"/>
              <a:t>Docker </a:t>
            </a:r>
          </a:p>
          <a:p>
            <a:pPr marL="383540" indent="-383540"/>
            <a:r>
              <a:rPr lang="fr-FR" err="1"/>
              <a:t>Cursor</a:t>
            </a:r>
            <a:r>
              <a:rPr lang="fr-FR"/>
              <a:t> Agent</a:t>
            </a:r>
          </a:p>
          <a:p>
            <a:pPr marL="383540" indent="-383540"/>
            <a:r>
              <a:rPr lang="fr-FR" err="1"/>
              <a:t>Postgre</a:t>
            </a:r>
            <a:r>
              <a:rPr lang="fr-FR"/>
              <a:t> </a:t>
            </a:r>
            <a:r>
              <a:rPr lang="fr-FR" err="1"/>
              <a:t>Vector</a:t>
            </a:r>
            <a:endParaRPr lang="fr-FR"/>
          </a:p>
          <a:p>
            <a:pPr marL="383540" indent="-383540"/>
            <a:r>
              <a:rPr lang="fr-FR"/>
              <a:t>Local</a:t>
            </a:r>
          </a:p>
          <a:p>
            <a:pPr marL="383540" indent="-383540"/>
            <a:r>
              <a:rPr lang="fr-FR" err="1"/>
              <a:t>OpenAI</a:t>
            </a:r>
            <a:r>
              <a:rPr lang="fr-FR"/>
              <a:t> / GPT-4o-mini</a:t>
            </a:r>
          </a:p>
          <a:p>
            <a:pPr marL="383540" indent="-383540"/>
            <a:endParaRPr lang="fr-FR"/>
          </a:p>
        </p:txBody>
      </p:sp>
      <p:pic>
        <p:nvPicPr>
          <p:cNvPr id="10" name="Image 9" descr="Docker (@docker.run) • Facebook">
            <a:extLst>
              <a:ext uri="{FF2B5EF4-FFF2-40B4-BE49-F238E27FC236}">
                <a16:creationId xmlns:a16="http://schemas.microsoft.com/office/drawing/2014/main" id="{1C5AB9BC-3984-38AC-25C2-BDE62AEE3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074" y="1938148"/>
            <a:ext cx="683701" cy="625585"/>
          </a:xfrm>
          <a:prstGeom prst="rect">
            <a:avLst/>
          </a:prstGeom>
        </p:spPr>
      </p:pic>
      <p:pic>
        <p:nvPicPr>
          <p:cNvPr id="12" name="Image 11" descr="Ollama Logo PNG HD Download With Transparent Background | PNGHDPro">
            <a:extLst>
              <a:ext uri="{FF2B5EF4-FFF2-40B4-BE49-F238E27FC236}">
                <a16:creationId xmlns:a16="http://schemas.microsoft.com/office/drawing/2014/main" id="{F3840B32-8B9A-95BE-5F1A-EE646853BD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2" t="34353" r="-1177" b="26892"/>
          <a:stretch>
            <a:fillRect/>
          </a:stretch>
        </p:blipFill>
        <p:spPr>
          <a:xfrm>
            <a:off x="10200467" y="1889501"/>
            <a:ext cx="1742273" cy="727332"/>
          </a:xfrm>
          <a:prstGeom prst="rect">
            <a:avLst/>
          </a:prstGeom>
        </p:spPr>
      </p:pic>
      <p:pic>
        <p:nvPicPr>
          <p:cNvPr id="14" name="Image 13" descr="Introducing OpenAI's Search-GPT Prototype: A New Era of Intelligent Search">
            <a:extLst>
              <a:ext uri="{FF2B5EF4-FFF2-40B4-BE49-F238E27FC236}">
                <a16:creationId xmlns:a16="http://schemas.microsoft.com/office/drawing/2014/main" id="{D51F1394-C417-E3BA-38EF-1C9CD0311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33" r="25067"/>
          <a:stretch>
            <a:fillRect/>
          </a:stretch>
        </p:blipFill>
        <p:spPr>
          <a:xfrm>
            <a:off x="2092272" y="1853339"/>
            <a:ext cx="703886" cy="794290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2BDBC4F7-4F6B-4EF6-9D6D-4A6930723088}"/>
              </a:ext>
            </a:extLst>
          </p:cNvPr>
          <p:cNvCxnSpPr/>
          <p:nvPr/>
        </p:nvCxnSpPr>
        <p:spPr>
          <a:xfrm>
            <a:off x="1278609" y="2021237"/>
            <a:ext cx="32287" cy="4081219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18EF0514-7910-7A7B-BA60-60735B9E6A8A}"/>
              </a:ext>
            </a:extLst>
          </p:cNvPr>
          <p:cNvSpPr txBox="1">
            <a:spLocks/>
          </p:cNvSpPr>
          <p:nvPr/>
        </p:nvSpPr>
        <p:spPr>
          <a:xfrm>
            <a:off x="5062780" y="2598742"/>
            <a:ext cx="3049137" cy="25557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3540" indent="-383540"/>
            <a:r>
              <a:rPr lang="fr-FR"/>
              <a:t>Azure</a:t>
            </a:r>
          </a:p>
          <a:p>
            <a:pPr marL="383540" indent="-383540"/>
            <a:r>
              <a:rPr lang="fr-FR"/>
              <a:t>GPT-4 1-mini</a:t>
            </a:r>
          </a:p>
          <a:p>
            <a:pPr marL="383540" indent="-383540"/>
            <a:endParaRPr lang="fr-FR"/>
          </a:p>
        </p:txBody>
      </p:sp>
      <p:pic>
        <p:nvPicPr>
          <p:cNvPr id="18" name="Image 17" descr="Microsoft Azure - Wikipedia">
            <a:extLst>
              <a:ext uri="{FF2B5EF4-FFF2-40B4-BE49-F238E27FC236}">
                <a16:creationId xmlns:a16="http://schemas.microsoft.com/office/drawing/2014/main" id="{02A8575E-A9F8-EC86-1F99-50D803754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321" y="1916609"/>
            <a:ext cx="558424" cy="564881"/>
          </a:xfrm>
          <a:prstGeom prst="rect">
            <a:avLst/>
          </a:prstGeom>
        </p:spPr>
      </p:pic>
      <p:pic>
        <p:nvPicPr>
          <p:cNvPr id="19" name="Image 18" descr="Introducing OpenAI's Search-GPT Prototype: A New Era of Intelligent Search">
            <a:extLst>
              <a:ext uri="{FF2B5EF4-FFF2-40B4-BE49-F238E27FC236}">
                <a16:creationId xmlns:a16="http://schemas.microsoft.com/office/drawing/2014/main" id="{D3292623-C838-AAA3-4646-21B15ACB60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33" r="25067"/>
          <a:stretch>
            <a:fillRect/>
          </a:stretch>
        </p:blipFill>
        <p:spPr>
          <a:xfrm>
            <a:off x="5773119" y="1801677"/>
            <a:ext cx="703886" cy="794290"/>
          </a:xfrm>
          <a:prstGeom prst="rect">
            <a:avLst/>
          </a:prstGeom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8E3A0AE-05E5-625A-0479-C70EB56E6099}"/>
              </a:ext>
            </a:extLst>
          </p:cNvPr>
          <p:cNvCxnSpPr>
            <a:cxnSpLocks/>
          </p:cNvCxnSpPr>
          <p:nvPr/>
        </p:nvCxnSpPr>
        <p:spPr>
          <a:xfrm>
            <a:off x="4959456" y="1995406"/>
            <a:ext cx="25830" cy="4087676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43DA25A0-AA05-36AB-DCFF-19CBC4E1FDF4}"/>
              </a:ext>
            </a:extLst>
          </p:cNvPr>
          <p:cNvSpPr txBox="1">
            <a:spLocks/>
          </p:cNvSpPr>
          <p:nvPr/>
        </p:nvSpPr>
        <p:spPr>
          <a:xfrm>
            <a:off x="8498237" y="3542659"/>
            <a:ext cx="3049137" cy="211661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3540" indent="-383540"/>
            <a:r>
              <a:rPr lang="fr-FR"/>
              <a:t>Docker</a:t>
            </a:r>
          </a:p>
          <a:p>
            <a:pPr marL="383540" indent="-383540"/>
            <a:r>
              <a:rPr lang="fr-FR"/>
              <a:t>Ollama-3.2B</a:t>
            </a:r>
          </a:p>
          <a:p>
            <a:pPr marL="383540" indent="-383540"/>
            <a:r>
              <a:rPr lang="fr-FR" err="1"/>
              <a:t>Cursor</a:t>
            </a:r>
            <a:r>
              <a:rPr lang="fr-FR"/>
              <a:t> Agent</a:t>
            </a:r>
          </a:p>
          <a:p>
            <a:pPr marL="383540" indent="-383540"/>
            <a:r>
              <a:rPr lang="fr-FR"/>
              <a:t>Local</a:t>
            </a:r>
          </a:p>
          <a:p>
            <a:pPr marL="383540" indent="-383540"/>
            <a:r>
              <a:rPr lang="fr-FR"/>
              <a:t>GPU</a:t>
            </a:r>
          </a:p>
          <a:p>
            <a:pPr marL="383540" indent="-383540"/>
            <a:endParaRPr lang="fr-FR"/>
          </a:p>
          <a:p>
            <a:pPr marL="383540" indent="-383540"/>
            <a:endParaRPr lang="fr-FR"/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938EF6A5-8E10-EE73-CDF4-7E2F889C7EAF}"/>
              </a:ext>
            </a:extLst>
          </p:cNvPr>
          <p:cNvCxnSpPr>
            <a:cxnSpLocks/>
          </p:cNvCxnSpPr>
          <p:nvPr/>
        </p:nvCxnSpPr>
        <p:spPr>
          <a:xfrm flipH="1">
            <a:off x="8227014" y="2001863"/>
            <a:ext cx="2" cy="4113507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Espace réservé du numéro de diapositive 25">
            <a:extLst>
              <a:ext uri="{FF2B5EF4-FFF2-40B4-BE49-F238E27FC236}">
                <a16:creationId xmlns:a16="http://schemas.microsoft.com/office/drawing/2014/main" id="{1C0E8A57-FF8B-BEC3-1EFB-813C1D52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8</a:t>
            </a:fld>
            <a:endParaRPr lang="fr-FR"/>
          </a:p>
        </p:txBody>
      </p:sp>
      <p:pic>
        <p:nvPicPr>
          <p:cNvPr id="30" name="Image 29" descr="Cursor Free SVG, PNG, and vector dow... · LobeHub">
            <a:extLst>
              <a:ext uri="{FF2B5EF4-FFF2-40B4-BE49-F238E27FC236}">
                <a16:creationId xmlns:a16="http://schemas.microsoft.com/office/drawing/2014/main" id="{FF1D41C4-D5AB-1933-8256-53D0227EE5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017" y="1904998"/>
            <a:ext cx="652221" cy="626392"/>
          </a:xfrm>
          <a:prstGeom prst="rect">
            <a:avLst/>
          </a:prstGeom>
        </p:spPr>
      </p:pic>
      <p:pic>
        <p:nvPicPr>
          <p:cNvPr id="4" name="Image 3" descr="Docker (@docker.run) • Facebook">
            <a:extLst>
              <a:ext uri="{FF2B5EF4-FFF2-40B4-BE49-F238E27FC236}">
                <a16:creationId xmlns:a16="http://schemas.microsoft.com/office/drawing/2014/main" id="{397C94E8-F64D-CD12-CA34-D9CDE16C2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596" y="1916061"/>
            <a:ext cx="683701" cy="625585"/>
          </a:xfrm>
          <a:prstGeom prst="rect">
            <a:avLst/>
          </a:prstGeom>
        </p:spPr>
      </p:pic>
      <p:pic>
        <p:nvPicPr>
          <p:cNvPr id="5" name="Image 4" descr="Chroma and Cohere (Integration Guide) | Cohere">
            <a:extLst>
              <a:ext uri="{FF2B5EF4-FFF2-40B4-BE49-F238E27FC236}">
                <a16:creationId xmlns:a16="http://schemas.microsoft.com/office/drawing/2014/main" id="{7ED91216-17F5-B536-AE79-20BB8E9CA47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53" r="63395" b="-784"/>
          <a:stretch>
            <a:fillRect/>
          </a:stretch>
        </p:blipFill>
        <p:spPr>
          <a:xfrm>
            <a:off x="4090942" y="-802031"/>
            <a:ext cx="83113" cy="95425"/>
          </a:xfrm>
          <a:prstGeom prst="rect">
            <a:avLst/>
          </a:prstGeom>
        </p:spPr>
      </p:pic>
      <p:pic>
        <p:nvPicPr>
          <p:cNvPr id="6" name="Image 5" descr="Docker (@docker.run) • Facebook">
            <a:extLst>
              <a:ext uri="{FF2B5EF4-FFF2-40B4-BE49-F238E27FC236}">
                <a16:creationId xmlns:a16="http://schemas.microsoft.com/office/drawing/2014/main" id="{FD2E75CE-DBA6-91D0-293B-8B8A751A7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121" y="1916060"/>
            <a:ext cx="683701" cy="625585"/>
          </a:xfrm>
          <a:prstGeom prst="rect">
            <a:avLst/>
          </a:prstGeom>
        </p:spPr>
      </p:pic>
      <p:pic>
        <p:nvPicPr>
          <p:cNvPr id="7" name="Image 6" descr="Cursor Free SVG, PNG, and vector dow... · LobeHub">
            <a:extLst>
              <a:ext uri="{FF2B5EF4-FFF2-40B4-BE49-F238E27FC236}">
                <a16:creationId xmlns:a16="http://schemas.microsoft.com/office/drawing/2014/main" id="{54484829-13C2-59BC-FE11-8D53F0E5E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186" y="1937288"/>
            <a:ext cx="652221" cy="62639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24183E6-2A3A-5832-C86E-71BABE3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326" y="1916060"/>
            <a:ext cx="668695" cy="68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498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7F5D8-B414-92E2-AF37-F61B586C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Architecture RAG - Nathan</a:t>
            </a:r>
          </a:p>
        </p:txBody>
      </p:sp>
      <p:pic>
        <p:nvPicPr>
          <p:cNvPr id="10" name="Image 9" descr="Docker (@docker.run) • Facebook">
            <a:extLst>
              <a:ext uri="{FF2B5EF4-FFF2-40B4-BE49-F238E27FC236}">
                <a16:creationId xmlns:a16="http://schemas.microsoft.com/office/drawing/2014/main" id="{063A18D2-8FEE-54CC-938F-4C22B8E1E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074" y="752815"/>
            <a:ext cx="683701" cy="625585"/>
          </a:xfrm>
          <a:prstGeom prst="rect">
            <a:avLst/>
          </a:prstGeom>
        </p:spPr>
      </p:pic>
      <p:pic>
        <p:nvPicPr>
          <p:cNvPr id="12" name="Image 11" descr="Ollama Logo PNG HD Download With Transparent Background | PNGHDPro">
            <a:extLst>
              <a:ext uri="{FF2B5EF4-FFF2-40B4-BE49-F238E27FC236}">
                <a16:creationId xmlns:a16="http://schemas.microsoft.com/office/drawing/2014/main" id="{D03A9803-2B5B-1B12-2E6B-C2077FB10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2" t="34353" r="-1177" b="26892"/>
          <a:stretch>
            <a:fillRect/>
          </a:stretch>
        </p:blipFill>
        <p:spPr>
          <a:xfrm>
            <a:off x="9692467" y="704168"/>
            <a:ext cx="1742273" cy="727332"/>
          </a:xfrm>
          <a:prstGeom prst="rect">
            <a:avLst/>
          </a:prstGeom>
        </p:spPr>
      </p:pic>
      <p:sp>
        <p:nvSpPr>
          <p:cNvPr id="26" name="Espace réservé du numéro de diapositive 25">
            <a:extLst>
              <a:ext uri="{FF2B5EF4-FFF2-40B4-BE49-F238E27FC236}">
                <a16:creationId xmlns:a16="http://schemas.microsoft.com/office/drawing/2014/main" id="{C6D37BE2-EFA9-6F5B-0CDA-AB1EFDA9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9</a:t>
            </a:fld>
            <a:endParaRPr lang="fr-FR"/>
          </a:p>
        </p:txBody>
      </p:sp>
      <p:pic>
        <p:nvPicPr>
          <p:cNvPr id="30" name="Image 29" descr="Cursor Free SVG, PNG, and vector dow... · LobeHub">
            <a:extLst>
              <a:ext uri="{FF2B5EF4-FFF2-40B4-BE49-F238E27FC236}">
                <a16:creationId xmlns:a16="http://schemas.microsoft.com/office/drawing/2014/main" id="{1FDDC0BC-17D6-44D7-36DE-156BF7DC8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017" y="719665"/>
            <a:ext cx="652221" cy="626392"/>
          </a:xfrm>
          <a:prstGeom prst="rect">
            <a:avLst/>
          </a:prstGeom>
        </p:spPr>
      </p:pic>
      <p:pic>
        <p:nvPicPr>
          <p:cNvPr id="16" name="Image 15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8EF6E308-027E-27AC-8ADC-6FD608249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066" y="2308182"/>
            <a:ext cx="9572232" cy="3941964"/>
          </a:xfrm>
          <a:prstGeom prst="rect">
            <a:avLst/>
          </a:prstGeom>
        </p:spPr>
      </p:pic>
      <p:pic>
        <p:nvPicPr>
          <p:cNvPr id="23" name="Image 22" descr="Chroma and Cohere (Integration Guide) | Cohere">
            <a:extLst>
              <a:ext uri="{FF2B5EF4-FFF2-40B4-BE49-F238E27FC236}">
                <a16:creationId xmlns:a16="http://schemas.microsoft.com/office/drawing/2014/main" id="{47E3B057-CF46-AA47-BA4C-12F1E0FA4D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8" r="2627" b="5814"/>
          <a:stretch>
            <a:fillRect/>
          </a:stretch>
        </p:blipFill>
        <p:spPr>
          <a:xfrm>
            <a:off x="7749922" y="1349828"/>
            <a:ext cx="2228558" cy="88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248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CFC17-CC4F-1782-E172-F46A5E25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3B91B61-BFCA-4647-957E-A8269BE46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C158BC-E039-FBC5-D36A-8F475EB4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657" y="404990"/>
            <a:ext cx="6176776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Architecture RAG - Dominic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BDA3534-BA6C-A56A-C1B8-90A6037F8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30" r="7098"/>
          <a:stretch>
            <a:fillRect/>
          </a:stretch>
        </p:blipFill>
        <p:spPr>
          <a:xfrm>
            <a:off x="-1" y="10"/>
            <a:ext cx="4373546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2D1D7C6-1C89-420C-8D35-483654167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2EC7187-D5C3-F994-8D19-873D608592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72223" y="3503522"/>
            <a:ext cx="6893185" cy="2949488"/>
          </a:xfrm>
          <a:prstGeom prst="rect">
            <a:avLst/>
          </a:prstGeom>
        </p:spPr>
      </p:pic>
      <p:sp>
        <p:nvSpPr>
          <p:cNvPr id="26" name="Espace réservé du numéro de diapositive 25">
            <a:extLst>
              <a:ext uri="{FF2B5EF4-FFF2-40B4-BE49-F238E27FC236}">
                <a16:creationId xmlns:a16="http://schemas.microsoft.com/office/drawing/2014/main" id="{A5A044A1-445C-2DF6-5A9E-70C4168C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48EC9D-5697-4E5B-8ED7-1432B59ABEA1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05AE7D6-21F6-1C3B-7231-E633B9F26759}"/>
              </a:ext>
            </a:extLst>
          </p:cNvPr>
          <p:cNvSpPr txBox="1"/>
          <p:nvPr/>
        </p:nvSpPr>
        <p:spPr>
          <a:xfrm>
            <a:off x="4851640" y="1694207"/>
            <a:ext cx="68054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u="sng"/>
              <a:t>Synthèse</a:t>
            </a:r>
          </a:p>
          <a:p>
            <a:pPr marL="342900" indent="-342900">
              <a:buFont typeface="+mj-lt"/>
              <a:buAutoNum type="arabicPeriod"/>
            </a:pPr>
            <a:r>
              <a:rPr lang="fr-CA"/>
              <a:t>Les réponses avec RAG étaient significativement plus efficaces en consommation de </a:t>
            </a:r>
            <a:r>
              <a:rPr lang="fr-CA" err="1"/>
              <a:t>tokens</a:t>
            </a:r>
            <a:r>
              <a:rPr lang="fr-CA"/>
              <a:t> (~6% du coût Full-</a:t>
            </a:r>
            <a:r>
              <a:rPr lang="fr-CA" err="1"/>
              <a:t>Context</a:t>
            </a:r>
            <a:r>
              <a:rPr lang="fr-CA"/>
              <a:t>). </a:t>
            </a:r>
          </a:p>
          <a:p>
            <a:pPr marL="342900" indent="-342900">
              <a:buFont typeface="+mj-lt"/>
              <a:buAutoNum type="arabicPeriod"/>
            </a:pPr>
            <a:r>
              <a:rPr lang="fr-CA"/>
              <a:t>Les approches Full-</a:t>
            </a:r>
            <a:r>
              <a:rPr lang="fr-CA" err="1"/>
              <a:t>Context</a:t>
            </a:r>
            <a:r>
              <a:rPr lang="fr-CA"/>
              <a:t> produisaient systématiquement les réponses les plus fidèles et complètes (~57% meilleures que les approches RAG).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83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17639-5146-EA3F-0D17-417213DE7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8A8F7-F748-E4C0-2C19-A20849A0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Architecture RAG - Amal</a:t>
            </a:r>
          </a:p>
        </p:txBody>
      </p:sp>
      <p:pic>
        <p:nvPicPr>
          <p:cNvPr id="18" name="Image 17" descr="Microsoft Azure - Wikipedia">
            <a:extLst>
              <a:ext uri="{FF2B5EF4-FFF2-40B4-BE49-F238E27FC236}">
                <a16:creationId xmlns:a16="http://schemas.microsoft.com/office/drawing/2014/main" id="{25B73AA0-6F22-7193-1414-647E20341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186" y="1391447"/>
            <a:ext cx="558424" cy="564881"/>
          </a:xfrm>
          <a:prstGeom prst="rect">
            <a:avLst/>
          </a:prstGeom>
        </p:spPr>
      </p:pic>
      <p:pic>
        <p:nvPicPr>
          <p:cNvPr id="19" name="Image 18" descr="Introducing OpenAI's Search-GPT Prototype: A New Era of Intelligent Search">
            <a:extLst>
              <a:ext uri="{FF2B5EF4-FFF2-40B4-BE49-F238E27FC236}">
                <a16:creationId xmlns:a16="http://schemas.microsoft.com/office/drawing/2014/main" id="{CB888327-825C-CB79-14BE-DBECFAAAF2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33" r="25067"/>
          <a:stretch>
            <a:fillRect/>
          </a:stretch>
        </p:blipFill>
        <p:spPr>
          <a:xfrm>
            <a:off x="9335984" y="1276515"/>
            <a:ext cx="703886" cy="794290"/>
          </a:xfrm>
          <a:prstGeom prst="rect">
            <a:avLst/>
          </a:prstGeom>
        </p:spPr>
      </p:pic>
      <p:sp>
        <p:nvSpPr>
          <p:cNvPr id="26" name="Espace réservé du numéro de diapositive 25">
            <a:extLst>
              <a:ext uri="{FF2B5EF4-FFF2-40B4-BE49-F238E27FC236}">
                <a16:creationId xmlns:a16="http://schemas.microsoft.com/office/drawing/2014/main" id="{BE34C05E-BEF2-6D5D-8E1C-0D8E2793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11</a:t>
            </a:fld>
            <a:endParaRPr lang="fr-FR"/>
          </a:p>
        </p:txBody>
      </p:sp>
      <p:pic>
        <p:nvPicPr>
          <p:cNvPr id="4" name="Image 3" descr="Docker (@docker.run) • Facebook">
            <a:extLst>
              <a:ext uri="{FF2B5EF4-FFF2-40B4-BE49-F238E27FC236}">
                <a16:creationId xmlns:a16="http://schemas.microsoft.com/office/drawing/2014/main" id="{06F4EED2-7785-DC17-D1AB-335C32773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461" y="1390899"/>
            <a:ext cx="683701" cy="625585"/>
          </a:xfrm>
          <a:prstGeom prst="rect">
            <a:avLst/>
          </a:prstGeom>
        </p:spPr>
      </p:pic>
      <p:pic>
        <p:nvPicPr>
          <p:cNvPr id="3" name="Image 2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80CCEB17-16F2-C20A-1556-773A1C092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9724" y="1956429"/>
            <a:ext cx="7700136" cy="447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4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E8C031-8DC9-EC28-624D-DE9B5493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err="1"/>
              <a:t>Résultats</a:t>
            </a:r>
            <a:endParaRPr lang="en-US" sz="400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D530170-A660-1373-3FC8-5B27DFFC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fld id="{B248EC9D-5697-4E5B-8ED7-1432B59ABEA1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AD55D59A-CC09-651A-93F4-31005CACDD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8187296"/>
              </p:ext>
            </p:extLst>
          </p:nvPr>
        </p:nvGraphicFramePr>
        <p:xfrm>
          <a:off x="1492684" y="1628383"/>
          <a:ext cx="10035973" cy="49282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78988">
                  <a:extLst>
                    <a:ext uri="{9D8B030D-6E8A-4147-A177-3AD203B41FA5}">
                      <a16:colId xmlns:a16="http://schemas.microsoft.com/office/drawing/2014/main" val="2477639119"/>
                    </a:ext>
                  </a:extLst>
                </a:gridCol>
                <a:gridCol w="1517181">
                  <a:extLst>
                    <a:ext uri="{9D8B030D-6E8A-4147-A177-3AD203B41FA5}">
                      <a16:colId xmlns:a16="http://schemas.microsoft.com/office/drawing/2014/main" val="2498036852"/>
                    </a:ext>
                  </a:extLst>
                </a:gridCol>
                <a:gridCol w="2479412">
                  <a:extLst>
                    <a:ext uri="{9D8B030D-6E8A-4147-A177-3AD203B41FA5}">
                      <a16:colId xmlns:a16="http://schemas.microsoft.com/office/drawing/2014/main" val="1162345424"/>
                    </a:ext>
                  </a:extLst>
                </a:gridCol>
                <a:gridCol w="856142">
                  <a:extLst>
                    <a:ext uri="{9D8B030D-6E8A-4147-A177-3AD203B41FA5}">
                      <a16:colId xmlns:a16="http://schemas.microsoft.com/office/drawing/2014/main" val="1730927817"/>
                    </a:ext>
                  </a:extLst>
                </a:gridCol>
                <a:gridCol w="725390">
                  <a:extLst>
                    <a:ext uri="{9D8B030D-6E8A-4147-A177-3AD203B41FA5}">
                      <a16:colId xmlns:a16="http://schemas.microsoft.com/office/drawing/2014/main" val="149239726"/>
                    </a:ext>
                  </a:extLst>
                </a:gridCol>
                <a:gridCol w="725390">
                  <a:extLst>
                    <a:ext uri="{9D8B030D-6E8A-4147-A177-3AD203B41FA5}">
                      <a16:colId xmlns:a16="http://schemas.microsoft.com/office/drawing/2014/main" val="2694176990"/>
                    </a:ext>
                  </a:extLst>
                </a:gridCol>
                <a:gridCol w="725390">
                  <a:extLst>
                    <a:ext uri="{9D8B030D-6E8A-4147-A177-3AD203B41FA5}">
                      <a16:colId xmlns:a16="http://schemas.microsoft.com/office/drawing/2014/main" val="1694514527"/>
                    </a:ext>
                  </a:extLst>
                </a:gridCol>
                <a:gridCol w="1528080">
                  <a:extLst>
                    <a:ext uri="{9D8B030D-6E8A-4147-A177-3AD203B41FA5}">
                      <a16:colId xmlns:a16="http://schemas.microsoft.com/office/drawing/2014/main" val="830680717"/>
                    </a:ext>
                  </a:extLst>
                </a:gridCol>
              </a:tblGrid>
              <a:tr h="512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Prototype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LLM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Chunking</a:t>
                      </a:r>
                      <a:endParaRPr lang="fr-FR" sz="1900" err="1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Q1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Q2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Q3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Q4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Moyenne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extLst>
                  <a:ext uri="{0D108BD9-81ED-4DB2-BD59-A6C34878D82A}">
                    <a16:rowId xmlns:a16="http://schemas.microsoft.com/office/drawing/2014/main" val="2085664446"/>
                  </a:ext>
                </a:extLst>
              </a:tr>
              <a:tr h="789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Prototype 1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gpt-4.1-mini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words250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100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99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98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94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97.75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extLst>
                  <a:ext uri="{0D108BD9-81ED-4DB2-BD59-A6C34878D82A}">
                    <a16:rowId xmlns:a16="http://schemas.microsoft.com/office/drawing/2014/main" val="141026925"/>
                  </a:ext>
                </a:extLst>
              </a:tr>
              <a:tr h="7890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900" b="0" i="0" u="none" strike="noStrike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Prototype 1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gpt-4.1-mini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tokens512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100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99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95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99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98.25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extLst>
                  <a:ext uri="{0D108BD9-81ED-4DB2-BD59-A6C34878D82A}">
                    <a16:rowId xmlns:a16="http://schemas.microsoft.com/office/drawing/2014/main" val="1378208159"/>
                  </a:ext>
                </a:extLst>
              </a:tr>
              <a:tr h="7890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900" b="0" i="0" u="none" strike="noStrike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Prototype 1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gpt-4.1-mini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semantic</a:t>
                      </a:r>
                      <a:endParaRPr lang="fr-FR" sz="1900" err="1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100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93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99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92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96.00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extLst>
                  <a:ext uri="{0D108BD9-81ED-4DB2-BD59-A6C34878D82A}">
                    <a16:rowId xmlns:a16="http://schemas.microsoft.com/office/drawing/2014/main" val="4103598394"/>
                  </a:ext>
                </a:extLst>
              </a:tr>
              <a:tr h="5122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900" b="0" i="0" u="none" strike="noStrike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Prototype 2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ollama3.2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fixed_chars_1200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35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88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10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70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50.75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extLst>
                  <a:ext uri="{0D108BD9-81ED-4DB2-BD59-A6C34878D82A}">
                    <a16:rowId xmlns:a16="http://schemas.microsoft.com/office/drawing/2014/main" val="2483626250"/>
                  </a:ext>
                </a:extLst>
              </a:tr>
              <a:tr h="5122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900" b="0" i="0" u="none" strike="noStrike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Prototype 2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ollama3.2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paragraph</a:t>
                      </a:r>
                      <a:endParaRPr lang="fr-FR" sz="1900" err="1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84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95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10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72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65.25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extLst>
                  <a:ext uri="{0D108BD9-81ED-4DB2-BD59-A6C34878D82A}">
                    <a16:rowId xmlns:a16="http://schemas.microsoft.com/office/drawing/2014/main" val="393208460"/>
                  </a:ext>
                </a:extLst>
              </a:tr>
              <a:tr h="5122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900" b="0" i="0" u="none" strike="noStrike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Prototype 2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ollama3.2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page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78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55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10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25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42.00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extLst>
                  <a:ext uri="{0D108BD9-81ED-4DB2-BD59-A6C34878D82A}">
                    <a16:rowId xmlns:a16="http://schemas.microsoft.com/office/drawing/2014/main" val="716802583"/>
                  </a:ext>
                </a:extLst>
              </a:tr>
              <a:tr h="5122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900" b="0" i="0" u="none" strike="noStrike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Prototype 3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gpt-o4-mini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Full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98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99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99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/>
                        <a:t>99</a:t>
                      </a:r>
                    </a:p>
                  </a:txBody>
                  <a:tcPr marL="97896" marR="97896" marT="48947" marB="489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1"/>
                        <a:t>98.75</a:t>
                      </a:r>
                      <a:endParaRPr lang="fr-FR" sz="1900"/>
                    </a:p>
                  </a:txBody>
                  <a:tcPr marL="97896" marR="97896" marT="48947" marB="48947" anchor="ctr"/>
                </a:tc>
                <a:extLst>
                  <a:ext uri="{0D108BD9-81ED-4DB2-BD59-A6C34878D82A}">
                    <a16:rowId xmlns:a16="http://schemas.microsoft.com/office/drawing/2014/main" val="4291901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70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670C74-A71A-EC26-B542-E8193B1D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276" y="366584"/>
            <a:ext cx="9601200" cy="1485900"/>
          </a:xfrm>
        </p:spPr>
        <p:txBody>
          <a:bodyPr/>
          <a:lstStyle/>
          <a:p>
            <a:r>
              <a:rPr lang="fr-FR"/>
              <a:t>Analyse comparative des 3 prototypes</a:t>
            </a:r>
            <a:endParaRPr lang="fr-CA">
              <a:solidFill>
                <a:srgbClr val="000000"/>
              </a:solidFill>
            </a:endParaRPr>
          </a:p>
          <a:p>
            <a:endParaRPr lang="fr-CA" sz="40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F244EE-E3B6-86C5-4AB1-F6BDE10E6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302" y="1267613"/>
            <a:ext cx="11016705" cy="36145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83540" indent="-383540"/>
            <a:r>
              <a:rPr lang="fr-CA" b="1">
                <a:ea typeface="+mn-lt"/>
                <a:cs typeface="+mn-lt"/>
              </a:rPr>
              <a:t>Le choix du LLM domine le choix du </a:t>
            </a:r>
            <a:r>
              <a:rPr lang="fr-CA" b="1" err="1">
                <a:ea typeface="+mn-lt"/>
                <a:cs typeface="+mn-lt"/>
              </a:rPr>
              <a:t>chunking</a:t>
            </a:r>
            <a:r>
              <a:rPr lang="fr-CA" b="1">
                <a:ea typeface="+mn-lt"/>
                <a:cs typeface="+mn-lt"/>
              </a:rPr>
              <a:t> : </a:t>
            </a:r>
            <a:r>
              <a:rPr lang="fr-CA">
                <a:ea typeface="+mn-lt"/>
                <a:cs typeface="+mn-lt"/>
              </a:rPr>
              <a:t>Quelle que soit la stratégie de découpage, gpt-4.1-mini (96-98) surpasse largement ollama3.2 (42-65). </a:t>
            </a:r>
          </a:p>
          <a:p>
            <a:pPr marL="383540" indent="-383540"/>
            <a:r>
              <a:rPr lang="fr-CA" b="1">
                <a:ea typeface="+mn-lt"/>
                <a:cs typeface="+mn-lt"/>
              </a:rPr>
              <a:t>Sur un LLM performant, le </a:t>
            </a:r>
            <a:r>
              <a:rPr lang="fr-CA" b="1" err="1">
                <a:ea typeface="+mn-lt"/>
                <a:cs typeface="+mn-lt"/>
              </a:rPr>
              <a:t>chunking</a:t>
            </a:r>
            <a:r>
              <a:rPr lang="fr-CA" b="1">
                <a:ea typeface="+mn-lt"/>
                <a:cs typeface="+mn-lt"/>
              </a:rPr>
              <a:t> a un impact marginal : </a:t>
            </a:r>
            <a:r>
              <a:rPr lang="fr-CA">
                <a:ea typeface="+mn-lt"/>
                <a:cs typeface="+mn-lt"/>
              </a:rPr>
              <a:t>Chez gpt-4.1-mini, tokens512 (98.25), words250 (97.75) et </a:t>
            </a:r>
            <a:r>
              <a:rPr lang="fr-CA" err="1">
                <a:ea typeface="+mn-lt"/>
                <a:cs typeface="+mn-lt"/>
              </a:rPr>
              <a:t>semantic</a:t>
            </a:r>
            <a:r>
              <a:rPr lang="fr-CA">
                <a:ea typeface="+mn-lt"/>
                <a:cs typeface="+mn-lt"/>
              </a:rPr>
              <a:t> (96.00) se tiennent en 2 points. Le modèle compense les différences de découpage.</a:t>
            </a:r>
            <a:endParaRPr lang="fr-CA"/>
          </a:p>
          <a:p>
            <a:pPr marL="383540" indent="-383540"/>
            <a:r>
              <a:rPr lang="fr-CA" b="1">
                <a:ea typeface="+mn-lt"/>
                <a:cs typeface="+mn-lt"/>
              </a:rPr>
              <a:t>Sur un LLM plus faible, le </a:t>
            </a:r>
            <a:r>
              <a:rPr lang="fr-CA" b="1" err="1">
                <a:ea typeface="+mn-lt"/>
                <a:cs typeface="+mn-lt"/>
              </a:rPr>
              <a:t>chunking</a:t>
            </a:r>
            <a:r>
              <a:rPr lang="fr-CA" b="1">
                <a:ea typeface="+mn-lt"/>
                <a:cs typeface="+mn-lt"/>
              </a:rPr>
              <a:t> devient déterminant :</a:t>
            </a:r>
            <a:r>
              <a:rPr lang="fr-CA">
                <a:ea typeface="+mn-lt"/>
                <a:cs typeface="+mn-lt"/>
              </a:rPr>
              <a:t> Chez ollama3.2, </a:t>
            </a:r>
            <a:r>
              <a:rPr lang="fr-CA" err="1">
                <a:ea typeface="+mn-lt"/>
                <a:cs typeface="+mn-lt"/>
              </a:rPr>
              <a:t>paragraph</a:t>
            </a:r>
            <a:r>
              <a:rPr lang="fr-CA">
                <a:ea typeface="+mn-lt"/>
                <a:cs typeface="+mn-lt"/>
              </a:rPr>
              <a:t> (65.25) dépasse nettement page (42.00), soit +23 points uniquement en changeant la stratégie de découpage. </a:t>
            </a:r>
          </a:p>
          <a:p>
            <a:pPr marL="383540" indent="-383540"/>
            <a:r>
              <a:rPr lang="fr-CA" b="1">
                <a:ea typeface="+mn-lt"/>
                <a:cs typeface="+mn-lt"/>
              </a:rPr>
              <a:t>La </a:t>
            </a:r>
            <a:r>
              <a:rPr lang="fr-CA" b="1" err="1">
                <a:ea typeface="+mn-lt"/>
                <a:cs typeface="+mn-lt"/>
              </a:rPr>
              <a:t>baseline</a:t>
            </a:r>
            <a:r>
              <a:rPr lang="fr-CA" b="1">
                <a:ea typeface="+mn-lt"/>
                <a:cs typeface="+mn-lt"/>
              </a:rPr>
              <a:t> "Full" plafonne mais n'est pas viable : </a:t>
            </a:r>
            <a:r>
              <a:rPr lang="fr-CA">
                <a:ea typeface="+mn-lt"/>
                <a:cs typeface="+mn-lt"/>
              </a:rPr>
              <a:t>Envoyer le document entier (Full) atteint 98.75 car le modèle dispose de tout le contexte, mais au prix d'une consommation de </a:t>
            </a:r>
            <a:r>
              <a:rPr lang="fr-CA" err="1">
                <a:ea typeface="+mn-lt"/>
                <a:cs typeface="+mn-lt"/>
              </a:rPr>
              <a:t>tokens</a:t>
            </a:r>
            <a:r>
              <a:rPr lang="fr-CA">
                <a:ea typeface="+mn-lt"/>
                <a:cs typeface="+mn-lt"/>
              </a:rPr>
              <a:t> prohibitive. </a:t>
            </a:r>
          </a:p>
          <a:p>
            <a:pPr marL="383540" indent="-383540"/>
            <a:r>
              <a:rPr lang="fr-CA" b="1">
                <a:ea typeface="+mn-lt"/>
                <a:cs typeface="+mn-lt"/>
              </a:rPr>
              <a:t>La question des médications (Q3) est révélatrice : </a:t>
            </a:r>
            <a:r>
              <a:rPr lang="fr-CA">
                <a:ea typeface="+mn-lt"/>
                <a:cs typeface="+mn-lt"/>
              </a:rPr>
              <a:t>gpt-4.1-mini répond 100/100 sur les 3 </a:t>
            </a:r>
            <a:r>
              <a:rPr lang="fr-CA" err="1">
                <a:ea typeface="+mn-lt"/>
                <a:cs typeface="+mn-lt"/>
              </a:rPr>
              <a:t>chunkings</a:t>
            </a:r>
            <a:r>
              <a:rPr lang="fr-CA">
                <a:ea typeface="+mn-lt"/>
                <a:cs typeface="+mn-lt"/>
              </a:rPr>
              <a:t>, tandis qu'ollama3.2 échoue systématiquement (10/100) en affirmant l'absence d'information pourtant présente. </a:t>
            </a:r>
            <a:endParaRPr lang="fr-CA"/>
          </a:p>
          <a:p>
            <a:pPr marL="383540" indent="-383540"/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AA642E-DD53-A4AE-FC37-7845C654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6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2DA8D-597D-DA34-6CEB-81C3AE9F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D651FE-6F51-B2C9-465B-AC4F2B05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Conclusion et perspectives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E9421C-E590-2FF3-7B90-17431CEE8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9351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A">
                <a:ea typeface="+mn-lt"/>
                <a:cs typeface="+mn-lt"/>
              </a:rPr>
              <a:t>.</a:t>
            </a:r>
            <a:endParaRPr lang="fr-CA"/>
          </a:p>
          <a:p>
            <a:pPr marL="383540" indent="-383540">
              <a:buFont typeface="Wingdings" panose="020B0503020102020204" pitchFamily="34" charset="0"/>
              <a:buChar char="Ø"/>
            </a:pPr>
            <a:r>
              <a:rPr lang="fr-CA" sz="1900">
                <a:ea typeface="+mn-lt"/>
                <a:cs typeface="+mn-lt"/>
              </a:rPr>
              <a:t>Trois prototypes RAG fonctionnels sur un corpus clinique commun, comparés via un super-juge unique</a:t>
            </a:r>
            <a:endParaRPr lang="fr-CA"/>
          </a:p>
          <a:p>
            <a:pPr marL="383540" indent="-383540">
              <a:buFont typeface="Wingdings" panose="020B0503020102020204" pitchFamily="34" charset="0"/>
              <a:buChar char="Ø"/>
            </a:pPr>
            <a:r>
              <a:rPr lang="fr-CA">
                <a:ea typeface="+mn-lt"/>
                <a:cs typeface="+mn-lt"/>
              </a:rPr>
              <a:t>Améliorer le traitement des tableaux et données structurées, peu présents dans le corpus actuel mais centraux pour des dossiers cliniques réels.</a:t>
            </a:r>
            <a:endParaRPr lang="fr-CA"/>
          </a:p>
          <a:p>
            <a:pPr marL="0" indent="0">
              <a:buNone/>
            </a:pPr>
            <a:r>
              <a:rPr lang="fr-CA"/>
              <a:t>Vers les phases suivantes :</a:t>
            </a:r>
          </a:p>
          <a:p>
            <a:pPr marL="383540" indent="-383540">
              <a:buFont typeface="Wingdings" panose="020B0503020102020204" pitchFamily="34" charset="0"/>
              <a:buChar char="Ø"/>
            </a:pPr>
            <a:r>
              <a:rPr lang="fr-CA">
                <a:ea typeface="+mn-lt"/>
                <a:cs typeface="+mn-lt"/>
              </a:rPr>
              <a:t>Phase 2 : Agent avec MCP: transformer le RAG en agent capable d'invoquer des outils (recherche dans le dossier, calculs, accès à des données externes). </a:t>
            </a:r>
          </a:p>
          <a:p>
            <a:pPr marL="383540" indent="-383540">
              <a:buFont typeface="Wingdings" panose="020B0503020102020204" pitchFamily="34" charset="0"/>
              <a:buChar char="Ø"/>
            </a:pP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7563E8-9B5E-BF42-E3F0-2CD42826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033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6EB8-7EE2-1295-E534-5FA3C83E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47ECD6-4223-B844-5730-391CB9C1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060" y="2580502"/>
            <a:ext cx="9776253" cy="847468"/>
          </a:xfrm>
        </p:spPr>
        <p:txBody>
          <a:bodyPr>
            <a:normAutofit fontScale="90000"/>
          </a:bodyPr>
          <a:lstStyle/>
          <a:p>
            <a:r>
              <a:rPr lang="fr-FR" sz="6000"/>
              <a:t>MERCI POUR VOTRE ATTENTION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661A32-52DA-1D16-F843-A45BB742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20785"/>
      </p:ext>
    </p:extLst>
  </p:cSld>
  <p:clrMapOvr>
    <a:masterClrMapping/>
  </p:clrMapOvr>
</p:sld>
</file>

<file path=ppt/theme/theme1.xml><?xml version="1.0" encoding="utf-8"?>
<a:theme xmlns:a="http://schemas.openxmlformats.org/drawingml/2006/main" name="Cadrer">
  <a:themeElements>
    <a:clrScheme name="Cadre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e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Application>Microsoft Office PowerPoint</Application>
  <PresentationFormat>Grand écran</PresentationFormat>
  <Slides>15</Slides>
  <Notes>4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Cadrer</vt:lpstr>
      <vt:lpstr>Dev #1 – RAG Les Trois Tokens</vt:lpstr>
      <vt:lpstr>Agenda</vt:lpstr>
      <vt:lpstr>Contexte et problématique</vt:lpstr>
      <vt:lpstr>Objectifs</vt:lpstr>
      <vt:lpstr>La source de données</vt:lpstr>
      <vt:lpstr>Article de référence</vt:lpstr>
      <vt:lpstr>Protocol expérimental</vt:lpstr>
      <vt:lpstr>Architecture RAG</vt:lpstr>
      <vt:lpstr>Architecture RAG - Nathan</vt:lpstr>
      <vt:lpstr>Architecture RAG - Dominic</vt:lpstr>
      <vt:lpstr>Architecture RAG - Amal</vt:lpstr>
      <vt:lpstr>Résultats</vt:lpstr>
      <vt:lpstr>Analyse comparative des 3 prototypes </vt:lpstr>
      <vt:lpstr>Conclusion et perspectives </vt:lpstr>
      <vt:lpstr>MERCI POUR VOTRE ATTENTION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2026-05-22T22:30:15Z</dcterms:created>
  <dcterms:modified xsi:type="dcterms:W3CDTF">2026-05-25T16:36:41Z</dcterms:modified>
</cp:coreProperties>
</file>